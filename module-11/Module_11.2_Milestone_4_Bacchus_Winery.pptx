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5" r:id="rId1"/>
  </p:sldMasterIdLst>
  <p:sldIdLst>
    <p:sldId id="256" r:id="rId2"/>
    <p:sldId id="257" r:id="rId3"/>
    <p:sldId id="258" r:id="rId4"/>
    <p:sldId id="259" r:id="rId5"/>
    <p:sldId id="260" r:id="rId6"/>
    <p:sldId id="261" r:id="rId7"/>
    <p:sldId id="262" r:id="rId8"/>
    <p:sldId id="263" r:id="rId9"/>
    <p:sldId id="264" r:id="rId10"/>
    <p:sldId id="265"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57" d="100"/>
          <a:sy n="57" d="100"/>
        </p:scale>
        <p:origin x="1186"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5" name="Group 24"/>
          <p:cNvGrpSpPr/>
          <p:nvPr/>
        </p:nvGrpSpPr>
        <p:grpSpPr>
          <a:xfrm>
            <a:off x="203200" y="0"/>
            <a:ext cx="3778250" cy="6858001"/>
            <a:chOff x="203200" y="0"/>
            <a:chExt cx="3778250" cy="6858001"/>
          </a:xfrm>
        </p:grpSpPr>
        <p:sp>
          <p:nvSpPr>
            <p:cNvPr id="14" name="Freeform 6"/>
            <p:cNvSpPr/>
            <p:nvPr/>
          </p:nvSpPr>
          <p:spPr bwMode="auto">
            <a:xfrm>
              <a:off x="641350" y="0"/>
              <a:ext cx="1365250" cy="3971925"/>
            </a:xfrm>
            <a:custGeom>
              <a:avLst/>
              <a:gdLst/>
              <a:ahLst/>
              <a:cxnLst/>
              <a:rect l="0" t="0" r="r" b="b"/>
              <a:pathLst>
                <a:path w="860" h="2502">
                  <a:moveTo>
                    <a:pt x="0" y="2445"/>
                  </a:moveTo>
                  <a:lnTo>
                    <a:pt x="228" y="2502"/>
                  </a:lnTo>
                  <a:lnTo>
                    <a:pt x="860" y="0"/>
                  </a:lnTo>
                  <a:lnTo>
                    <a:pt x="620" y="0"/>
                  </a:lnTo>
                  <a:lnTo>
                    <a:pt x="0" y="2445"/>
                  </a:lnTo>
                  <a:close/>
                </a:path>
              </a:pathLst>
            </a:custGeom>
            <a:solidFill>
              <a:schemeClr val="accent1"/>
            </a:solidFill>
            <a:ln>
              <a:noFill/>
            </a:ln>
          </p:spPr>
          <p:txBody>
            <a:bodyPr/>
            <a:lstStyle/>
            <a:p>
              <a:endParaRPr lang="en-US"/>
            </a:p>
          </p:txBody>
        </p:sp>
        <p:sp>
          <p:nvSpPr>
            <p:cNvPr id="15" name="Freeform 7"/>
            <p:cNvSpPr/>
            <p:nvPr/>
          </p:nvSpPr>
          <p:spPr bwMode="auto">
            <a:xfrm>
              <a:off x="203200" y="0"/>
              <a:ext cx="1336675" cy="3862388"/>
            </a:xfrm>
            <a:custGeom>
              <a:avLst/>
              <a:gdLst/>
              <a:ahLst/>
              <a:cxnLst/>
              <a:rect l="0" t="0" r="r" b="b"/>
              <a:pathLst>
                <a:path w="842" h="2433">
                  <a:moveTo>
                    <a:pt x="842" y="0"/>
                  </a:moveTo>
                  <a:lnTo>
                    <a:pt x="602" y="0"/>
                  </a:lnTo>
                  <a:lnTo>
                    <a:pt x="0" y="2376"/>
                  </a:lnTo>
                  <a:lnTo>
                    <a:pt x="228" y="2433"/>
                  </a:lnTo>
                  <a:lnTo>
                    <a:pt x="842" y="0"/>
                  </a:lnTo>
                  <a:close/>
                </a:path>
              </a:pathLst>
            </a:custGeom>
            <a:solidFill>
              <a:schemeClr val="tx1">
                <a:lumMod val="65000"/>
                <a:lumOff val="35000"/>
              </a:schemeClr>
            </a:solidFill>
            <a:ln>
              <a:noFill/>
            </a:ln>
          </p:spPr>
          <p:txBody>
            <a:bodyPr/>
            <a:lstStyle/>
            <a:p>
              <a:endParaRPr lang="en-US"/>
            </a:p>
          </p:txBody>
        </p:sp>
        <p:sp>
          <p:nvSpPr>
            <p:cNvPr id="16" name="Freeform 8"/>
            <p:cNvSpPr/>
            <p:nvPr/>
          </p:nvSpPr>
          <p:spPr bwMode="auto">
            <a:xfrm>
              <a:off x="207963" y="3776663"/>
              <a:ext cx="1936750" cy="3081338"/>
            </a:xfrm>
            <a:custGeom>
              <a:avLst/>
              <a:gdLst/>
              <a:ahLst/>
              <a:cxnLst/>
              <a:rect l="0" t="0" r="r" b="b"/>
              <a:pathLst>
                <a:path w="1220" h="1941">
                  <a:moveTo>
                    <a:pt x="0" y="0"/>
                  </a:moveTo>
                  <a:lnTo>
                    <a:pt x="1166" y="1941"/>
                  </a:lnTo>
                  <a:lnTo>
                    <a:pt x="1220" y="1941"/>
                  </a:lnTo>
                  <a:lnTo>
                    <a:pt x="0" y="0"/>
                  </a:lnTo>
                  <a:close/>
                </a:path>
              </a:pathLst>
            </a:custGeom>
            <a:solidFill>
              <a:schemeClr val="tx1">
                <a:lumMod val="85000"/>
                <a:lumOff val="15000"/>
              </a:schemeClr>
            </a:solidFill>
            <a:ln>
              <a:noFill/>
            </a:ln>
          </p:spPr>
          <p:txBody>
            <a:bodyPr/>
            <a:lstStyle/>
            <a:p>
              <a:endParaRPr lang="en-US"/>
            </a:p>
          </p:txBody>
        </p:sp>
        <p:sp>
          <p:nvSpPr>
            <p:cNvPr id="20" name="Freeform 9"/>
            <p:cNvSpPr/>
            <p:nvPr/>
          </p:nvSpPr>
          <p:spPr bwMode="auto">
            <a:xfrm>
              <a:off x="646113" y="3886200"/>
              <a:ext cx="2373313" cy="2971800"/>
            </a:xfrm>
            <a:custGeom>
              <a:avLst/>
              <a:gdLst/>
              <a:ahLst/>
              <a:cxnLst/>
              <a:rect l="0" t="0" r="r" b="b"/>
              <a:pathLst>
                <a:path w="1495" h="1872">
                  <a:moveTo>
                    <a:pt x="1495" y="1872"/>
                  </a:moveTo>
                  <a:lnTo>
                    <a:pt x="0" y="0"/>
                  </a:lnTo>
                  <a:lnTo>
                    <a:pt x="1442" y="1872"/>
                  </a:lnTo>
                  <a:lnTo>
                    <a:pt x="1495" y="1872"/>
                  </a:lnTo>
                  <a:close/>
                </a:path>
              </a:pathLst>
            </a:custGeom>
            <a:solidFill>
              <a:schemeClr val="accent1">
                <a:lumMod val="50000"/>
              </a:schemeClr>
            </a:solidFill>
            <a:ln>
              <a:noFill/>
            </a:ln>
          </p:spPr>
          <p:txBody>
            <a:bodyPr/>
            <a:lstStyle/>
            <a:p>
              <a:endParaRPr lang="en-US"/>
            </a:p>
          </p:txBody>
        </p:sp>
        <p:sp>
          <p:nvSpPr>
            <p:cNvPr id="21" name="Freeform 10"/>
            <p:cNvSpPr/>
            <p:nvPr/>
          </p:nvSpPr>
          <p:spPr bwMode="auto">
            <a:xfrm>
              <a:off x="641350" y="3881438"/>
              <a:ext cx="3340100" cy="2976563"/>
            </a:xfrm>
            <a:custGeom>
              <a:avLst/>
              <a:gdLst/>
              <a:ahLst/>
              <a:cxnLst/>
              <a:rect l="0" t="0" r="r" b="b"/>
              <a:pathLst>
                <a:path w="2104" h="1875">
                  <a:moveTo>
                    <a:pt x="0" y="0"/>
                  </a:moveTo>
                  <a:lnTo>
                    <a:pt x="3" y="3"/>
                  </a:lnTo>
                  <a:lnTo>
                    <a:pt x="1498" y="1875"/>
                  </a:lnTo>
                  <a:lnTo>
                    <a:pt x="2104" y="1875"/>
                  </a:lnTo>
                  <a:lnTo>
                    <a:pt x="228" y="57"/>
                  </a:lnTo>
                  <a:lnTo>
                    <a:pt x="0" y="0"/>
                  </a:lnTo>
                  <a:close/>
                </a:path>
              </a:pathLst>
            </a:custGeom>
            <a:solidFill>
              <a:schemeClr val="accent1">
                <a:lumMod val="75000"/>
              </a:schemeClr>
            </a:solidFill>
            <a:ln>
              <a:noFill/>
            </a:ln>
          </p:spPr>
          <p:txBody>
            <a:bodyPr/>
            <a:lstStyle/>
            <a:p>
              <a:endParaRPr lang="en-US"/>
            </a:p>
          </p:txBody>
        </p:sp>
        <p:sp>
          <p:nvSpPr>
            <p:cNvPr id="22" name="Freeform 11"/>
            <p:cNvSpPr/>
            <p:nvPr/>
          </p:nvSpPr>
          <p:spPr bwMode="auto">
            <a:xfrm>
              <a:off x="203200" y="3771900"/>
              <a:ext cx="2660650" cy="3086100"/>
            </a:xfrm>
            <a:custGeom>
              <a:avLst/>
              <a:gdLst/>
              <a:ahLst/>
              <a:cxnLst/>
              <a:rect l="0" t="0" r="r" b="b"/>
              <a:pathLst>
                <a:path w="1676" h="1944">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chemeClr val="tx1">
                <a:lumMod val="75000"/>
                <a:lumOff val="25000"/>
              </a:schemeClr>
            </a:solidFill>
            <a:ln>
              <a:noFill/>
            </a:ln>
          </p:spPr>
          <p:txBody>
            <a:bodyPr/>
            <a:lstStyle/>
            <a:p>
              <a:endParaRPr lang="en-US"/>
            </a:p>
          </p:txBody>
        </p:sp>
      </p:grpSp>
      <p:sp>
        <p:nvSpPr>
          <p:cNvPr id="2" name="Title 1"/>
          <p:cNvSpPr>
            <a:spLocks noGrp="1"/>
          </p:cNvSpPr>
          <p:nvPr>
            <p:ph type="ctrTitle"/>
          </p:nvPr>
        </p:nvSpPr>
        <p:spPr>
          <a:xfrm>
            <a:off x="1739673" y="914401"/>
            <a:ext cx="6947127" cy="3488266"/>
          </a:xfrm>
        </p:spPr>
        <p:txBody>
          <a:bodyPr anchor="b">
            <a:normAutofit/>
          </a:bodyPr>
          <a:lstStyle>
            <a:lvl1pPr algn="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924238" y="4402666"/>
            <a:ext cx="5762563" cy="1364531"/>
          </a:xfrm>
        </p:spPr>
        <p:txBody>
          <a:bodyPr anchor="t">
            <a:normAutofit/>
          </a:bodyPr>
          <a:lstStyle>
            <a:lvl1pPr marL="0" indent="0" algn="r">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325773" y="6117336"/>
            <a:ext cx="857473" cy="365125"/>
          </a:xfrm>
        </p:spPr>
        <p:txBody>
          <a:bodyPr/>
          <a:lstStyle/>
          <a:p>
            <a:fld id="{5BCAD085-E8A6-8845-BD4E-CB4CCA059FC4}" type="datetimeFigureOut">
              <a:rPr lang="en-US" smtClean="0"/>
              <a:t>12/13/2025</a:t>
            </a:fld>
            <a:endParaRPr lang="en-US"/>
          </a:p>
        </p:txBody>
      </p:sp>
      <p:sp>
        <p:nvSpPr>
          <p:cNvPr id="5" name="Footer Placeholder 4"/>
          <p:cNvSpPr>
            <a:spLocks noGrp="1"/>
          </p:cNvSpPr>
          <p:nvPr>
            <p:ph type="ftr" sz="quarter" idx="11"/>
          </p:nvPr>
        </p:nvSpPr>
        <p:spPr>
          <a:xfrm>
            <a:off x="3623733" y="6117336"/>
            <a:ext cx="3609438" cy="365125"/>
          </a:xfrm>
        </p:spPr>
        <p:txBody>
          <a:bodyPr/>
          <a:lstStyle/>
          <a:p>
            <a:endParaRPr lang="en-US"/>
          </a:p>
        </p:txBody>
      </p:sp>
      <p:sp>
        <p:nvSpPr>
          <p:cNvPr id="6" name="Slide Number Placeholder 5"/>
          <p:cNvSpPr>
            <a:spLocks noGrp="1"/>
          </p:cNvSpPr>
          <p:nvPr>
            <p:ph type="sldNum" sz="quarter" idx="12"/>
          </p:nvPr>
        </p:nvSpPr>
        <p:spPr>
          <a:xfrm>
            <a:off x="8275320" y="6117336"/>
            <a:ext cx="411480" cy="365125"/>
          </a:xfrm>
        </p:spPr>
        <p:txBody>
          <a:bodyPr/>
          <a:lstStyle/>
          <a:p>
            <a:fld id="{C1FF6DA9-008F-8B48-92A6-B652298478BF}" type="slidenum">
              <a:rPr lang="en-US" smtClean="0"/>
              <a:t>‹#›</a:t>
            </a:fld>
            <a:endParaRPr lang="en-US"/>
          </a:p>
        </p:txBody>
      </p:sp>
      <p:sp>
        <p:nvSpPr>
          <p:cNvPr id="23" name="Freeform 12"/>
          <p:cNvSpPr/>
          <p:nvPr/>
        </p:nvSpPr>
        <p:spPr bwMode="auto">
          <a:xfrm>
            <a:off x="203200" y="3771900"/>
            <a:ext cx="361950" cy="90488"/>
          </a:xfrm>
          <a:custGeom>
            <a:avLst/>
            <a:gdLst/>
            <a:ahLst/>
            <a:cxnLst/>
            <a:rect l="0" t="0" r="r" b="b"/>
            <a:pathLst>
              <a:path w="228" h="57">
                <a:moveTo>
                  <a:pt x="228" y="57"/>
                </a:moveTo>
                <a:lnTo>
                  <a:pt x="0" y="0"/>
                </a:lnTo>
                <a:lnTo>
                  <a:pt x="222" y="54"/>
                </a:lnTo>
                <a:lnTo>
                  <a:pt x="228" y="57"/>
                </a:lnTo>
                <a:close/>
              </a:path>
            </a:pathLst>
          </a:custGeom>
          <a:solidFill>
            <a:srgbClr val="29ABE2"/>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4" name="Freeform 13"/>
          <p:cNvSpPr/>
          <p:nvPr/>
        </p:nvSpPr>
        <p:spPr bwMode="auto">
          <a:xfrm>
            <a:off x="560388" y="3867150"/>
            <a:ext cx="61913" cy="80963"/>
          </a:xfrm>
          <a:custGeom>
            <a:avLst/>
            <a:gdLst/>
            <a:ahLst/>
            <a:cxnLst/>
            <a:rect l="0" t="0" r="r" b="b"/>
            <a:pathLst>
              <a:path w="39" h="51">
                <a:moveTo>
                  <a:pt x="0" y="0"/>
                </a:moveTo>
                <a:lnTo>
                  <a:pt x="39" y="51"/>
                </a:lnTo>
                <a:lnTo>
                  <a:pt x="3" y="0"/>
                </a:lnTo>
                <a:lnTo>
                  <a:pt x="0" y="0"/>
                </a:lnTo>
                <a:close/>
              </a:path>
            </a:pathLst>
          </a:custGeom>
          <a:solidFill>
            <a:srgbClr val="29ABE2"/>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Tree>
    <p:extLst>
      <p:ext uri="{BB962C8B-B14F-4D97-AF65-F5344CB8AC3E}">
        <p14:creationId xmlns:p14="http://schemas.microsoft.com/office/powerpoint/2010/main" val="1523737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44329" y="6108173"/>
            <a:ext cx="857473" cy="365125"/>
          </a:xfrm>
        </p:spPr>
        <p:txBody>
          <a:bodyPr/>
          <a:lstStyle/>
          <a:p>
            <a:fld id="{5BCAD085-E8A6-8845-BD4E-CB4CCA059FC4}" type="datetimeFigureOut">
              <a:rPr lang="en-US" smtClean="0"/>
              <a:t>12/13/2025</a:t>
            </a:fld>
            <a:endParaRPr lang="en-US"/>
          </a:p>
        </p:txBody>
      </p:sp>
      <p:sp>
        <p:nvSpPr>
          <p:cNvPr id="5" name="Footer Placeholder 4"/>
          <p:cNvSpPr>
            <a:spLocks noGrp="1"/>
          </p:cNvSpPr>
          <p:nvPr>
            <p:ph type="ftr" sz="quarter" idx="11"/>
          </p:nvPr>
        </p:nvSpPr>
        <p:spPr>
          <a:xfrm>
            <a:off x="1972647" y="6108173"/>
            <a:ext cx="5314517" cy="365125"/>
          </a:xfrm>
        </p:spPr>
        <p:txBody>
          <a:bodyPr/>
          <a:lstStyle/>
          <a:p>
            <a:endParaRPr lang="en-US"/>
          </a:p>
        </p:txBody>
      </p:sp>
      <p:sp>
        <p:nvSpPr>
          <p:cNvPr id="6" name="Slide Number Placeholder 5"/>
          <p:cNvSpPr>
            <a:spLocks noGrp="1"/>
          </p:cNvSpPr>
          <p:nvPr>
            <p:ph type="sldNum" sz="quarter" idx="12"/>
          </p:nvPr>
        </p:nvSpPr>
        <p:spPr>
          <a:xfrm>
            <a:off x="8258967" y="6108173"/>
            <a:ext cx="427833"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063544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86995" y="2666998"/>
            <a:ext cx="6699805" cy="2360071"/>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86998" y="5027070"/>
            <a:ext cx="6699802"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273317" y="6116070"/>
            <a:ext cx="413483"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59621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685801"/>
            <a:ext cx="7704667"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82133" y="2667000"/>
            <a:ext cx="3739896" cy="336867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946904" y="2667000"/>
            <a:ext cx="3739896" cy="334682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911413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329481" y="2658533"/>
            <a:ext cx="3456291"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13523"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61710" y="2667000"/>
            <a:ext cx="3467806"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957266"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604819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12/13/2025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3361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125095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1600200"/>
            <a:ext cx="2662534"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3947553" y="685800"/>
            <a:ext cx="4681962"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3524" y="2971800"/>
            <a:ext cx="2662534"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57393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2332" y="1752599"/>
            <a:ext cx="4070679"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5697495" y="914400"/>
            <a:ext cx="2461371"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2332" y="3124199"/>
            <a:ext cx="4070679"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107946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3" y="4732865"/>
            <a:ext cx="751599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789975" y="932112"/>
            <a:ext cx="6171065"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3523" y="5299603"/>
            <a:ext cx="751599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346330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685800"/>
            <a:ext cx="751599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343400"/>
            <a:ext cx="7515992"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793908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598235" y="3428999"/>
            <a:ext cx="6631128"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13523" y="4343400"/>
            <a:ext cx="751599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818576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13525" y="3308581"/>
            <a:ext cx="751598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777381"/>
            <a:ext cx="751599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554917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13525" y="3886200"/>
            <a:ext cx="751599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775200"/>
            <a:ext cx="751599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798880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13525" y="685801"/>
            <a:ext cx="7515991"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13524" y="3505200"/>
            <a:ext cx="7515992"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343400"/>
            <a:ext cx="7515992"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122945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527535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1393" y="685800"/>
            <a:ext cx="1328123"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13524" y="685800"/>
            <a:ext cx="6016373"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25748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14" name="Group 13"/>
          <p:cNvGrpSpPr/>
          <p:nvPr/>
        </p:nvGrpSpPr>
        <p:grpSpPr>
          <a:xfrm>
            <a:off x="0" y="0"/>
            <a:ext cx="2132013" cy="6858001"/>
            <a:chOff x="0" y="0"/>
            <a:chExt cx="2132013" cy="6858001"/>
          </a:xfrm>
        </p:grpSpPr>
        <p:sp>
          <p:nvSpPr>
            <p:cNvPr id="15" name="Freeform 6"/>
            <p:cNvSpPr/>
            <p:nvPr/>
          </p:nvSpPr>
          <p:spPr bwMode="auto">
            <a:xfrm>
              <a:off x="0" y="0"/>
              <a:ext cx="1073150" cy="5291138"/>
            </a:xfrm>
            <a:custGeom>
              <a:avLst/>
              <a:gdLst/>
              <a:ahLst/>
              <a:cxnLst/>
              <a:rect l="0" t="0" r="r" b="b"/>
              <a:pathLst>
                <a:path w="676" h="3333">
                  <a:moveTo>
                    <a:pt x="0" y="3132"/>
                  </a:moveTo>
                  <a:lnTo>
                    <a:pt x="0" y="3312"/>
                  </a:lnTo>
                  <a:lnTo>
                    <a:pt x="126" y="3333"/>
                  </a:lnTo>
                  <a:lnTo>
                    <a:pt x="676" y="0"/>
                  </a:lnTo>
                  <a:lnTo>
                    <a:pt x="514" y="0"/>
                  </a:lnTo>
                  <a:lnTo>
                    <a:pt x="0" y="3132"/>
                  </a:lnTo>
                  <a:close/>
                </a:path>
              </a:pathLst>
            </a:custGeom>
            <a:solidFill>
              <a:schemeClr val="accent1"/>
            </a:solidFill>
            <a:ln>
              <a:noFill/>
            </a:ln>
          </p:spPr>
          <p:txBody>
            <a:bodyPr/>
            <a:lstStyle/>
            <a:p>
              <a:endParaRPr lang="en-US"/>
            </a:p>
          </p:txBody>
        </p:sp>
        <p:sp>
          <p:nvSpPr>
            <p:cNvPr id="16" name="Freeform 7"/>
            <p:cNvSpPr/>
            <p:nvPr/>
          </p:nvSpPr>
          <p:spPr bwMode="auto">
            <a:xfrm>
              <a:off x="0" y="0"/>
              <a:ext cx="758825" cy="4624388"/>
            </a:xfrm>
            <a:custGeom>
              <a:avLst/>
              <a:gdLst/>
              <a:ahLst/>
              <a:cxnLst/>
              <a:rect l="0" t="0" r="r" b="b"/>
              <a:pathLst>
                <a:path w="478" h="2913">
                  <a:moveTo>
                    <a:pt x="478" y="0"/>
                  </a:moveTo>
                  <a:lnTo>
                    <a:pt x="318" y="0"/>
                  </a:lnTo>
                  <a:lnTo>
                    <a:pt x="0" y="1938"/>
                  </a:lnTo>
                  <a:lnTo>
                    <a:pt x="0" y="2913"/>
                  </a:lnTo>
                  <a:lnTo>
                    <a:pt x="478" y="0"/>
                  </a:lnTo>
                  <a:close/>
                </a:path>
              </a:pathLst>
            </a:custGeom>
            <a:solidFill>
              <a:schemeClr val="tx1">
                <a:lumMod val="65000"/>
                <a:lumOff val="35000"/>
              </a:schemeClr>
            </a:solidFill>
            <a:ln>
              <a:noFill/>
            </a:ln>
          </p:spPr>
          <p:txBody>
            <a:bodyPr/>
            <a:lstStyle/>
            <a:p>
              <a:endParaRPr lang="en-US"/>
            </a:p>
          </p:txBody>
        </p:sp>
        <p:sp>
          <p:nvSpPr>
            <p:cNvPr id="17" name="Freeform 8"/>
            <p:cNvSpPr/>
            <p:nvPr/>
          </p:nvSpPr>
          <p:spPr bwMode="auto">
            <a:xfrm>
              <a:off x="0" y="5662613"/>
              <a:ext cx="906463" cy="1195388"/>
            </a:xfrm>
            <a:custGeom>
              <a:avLst/>
              <a:gdLst/>
              <a:ahLst/>
              <a:cxnLst/>
              <a:rect l="0" t="0" r="r" b="b"/>
              <a:pathLst>
                <a:path w="571" h="753">
                  <a:moveTo>
                    <a:pt x="0" y="0"/>
                  </a:moveTo>
                  <a:lnTo>
                    <a:pt x="0" y="12"/>
                  </a:lnTo>
                  <a:lnTo>
                    <a:pt x="538" y="753"/>
                  </a:lnTo>
                  <a:lnTo>
                    <a:pt x="571" y="753"/>
                  </a:lnTo>
                  <a:lnTo>
                    <a:pt x="0" y="0"/>
                  </a:lnTo>
                  <a:close/>
                </a:path>
              </a:pathLst>
            </a:custGeom>
            <a:solidFill>
              <a:schemeClr val="tx1">
                <a:lumMod val="85000"/>
                <a:lumOff val="15000"/>
              </a:schemeClr>
            </a:solidFill>
            <a:ln>
              <a:noFill/>
            </a:ln>
          </p:spPr>
          <p:txBody>
            <a:bodyPr/>
            <a:lstStyle/>
            <a:p>
              <a:endParaRPr lang="en-US"/>
            </a:p>
          </p:txBody>
        </p:sp>
        <p:sp>
          <p:nvSpPr>
            <p:cNvPr id="18" name="Freeform 9"/>
            <p:cNvSpPr/>
            <p:nvPr/>
          </p:nvSpPr>
          <p:spPr bwMode="auto">
            <a:xfrm>
              <a:off x="0" y="5295900"/>
              <a:ext cx="1487488" cy="1562100"/>
            </a:xfrm>
            <a:custGeom>
              <a:avLst/>
              <a:gdLst/>
              <a:ahLst/>
              <a:cxnLst/>
              <a:rect l="0" t="0" r="r" b="b"/>
              <a:pathLst>
                <a:path w="937" h="984">
                  <a:moveTo>
                    <a:pt x="0" y="0"/>
                  </a:moveTo>
                  <a:lnTo>
                    <a:pt x="0" y="3"/>
                  </a:lnTo>
                  <a:lnTo>
                    <a:pt x="901" y="984"/>
                  </a:lnTo>
                  <a:lnTo>
                    <a:pt x="937" y="984"/>
                  </a:lnTo>
                  <a:lnTo>
                    <a:pt x="0" y="0"/>
                  </a:lnTo>
                  <a:close/>
                </a:path>
              </a:pathLst>
            </a:custGeom>
            <a:solidFill>
              <a:schemeClr val="accent1">
                <a:lumMod val="50000"/>
              </a:schemeClr>
            </a:solidFill>
            <a:ln>
              <a:noFill/>
            </a:ln>
          </p:spPr>
          <p:txBody>
            <a:bodyPr/>
            <a:lstStyle/>
            <a:p>
              <a:endParaRPr lang="en-US"/>
            </a:p>
          </p:txBody>
        </p:sp>
        <p:sp>
          <p:nvSpPr>
            <p:cNvPr id="19" name="Freeform 10"/>
            <p:cNvSpPr/>
            <p:nvPr/>
          </p:nvSpPr>
          <p:spPr bwMode="auto">
            <a:xfrm>
              <a:off x="0" y="5257800"/>
              <a:ext cx="2132013" cy="1600200"/>
            </a:xfrm>
            <a:custGeom>
              <a:avLst/>
              <a:gdLst/>
              <a:ahLst/>
              <a:cxnLst/>
              <a:rect l="0" t="0" r="r" b="b"/>
              <a:pathLst>
                <a:path w="1343" h="1008">
                  <a:moveTo>
                    <a:pt x="0" y="24"/>
                  </a:moveTo>
                  <a:lnTo>
                    <a:pt x="937" y="1008"/>
                  </a:lnTo>
                  <a:lnTo>
                    <a:pt x="1343" y="1008"/>
                  </a:lnTo>
                  <a:lnTo>
                    <a:pt x="126" y="21"/>
                  </a:lnTo>
                  <a:lnTo>
                    <a:pt x="0" y="0"/>
                  </a:lnTo>
                  <a:lnTo>
                    <a:pt x="0" y="24"/>
                  </a:lnTo>
                  <a:close/>
                </a:path>
              </a:pathLst>
            </a:custGeom>
            <a:solidFill>
              <a:schemeClr val="accent1">
                <a:lumMod val="75000"/>
              </a:schemeClr>
            </a:solidFill>
            <a:ln>
              <a:noFill/>
            </a:ln>
          </p:spPr>
          <p:txBody>
            <a:bodyPr/>
            <a:lstStyle/>
            <a:p>
              <a:endParaRPr lang="en-US"/>
            </a:p>
          </p:txBody>
        </p:sp>
        <p:sp>
          <p:nvSpPr>
            <p:cNvPr id="20" name="Freeform 11"/>
            <p:cNvSpPr/>
            <p:nvPr/>
          </p:nvSpPr>
          <p:spPr bwMode="auto">
            <a:xfrm>
              <a:off x="0" y="5357813"/>
              <a:ext cx="1377950" cy="1500188"/>
            </a:xfrm>
            <a:custGeom>
              <a:avLst/>
              <a:gdLst/>
              <a:ahLst/>
              <a:cxnLst/>
              <a:rect l="0" t="0" r="r" b="b"/>
              <a:pathLst>
                <a:path w="868" h="945">
                  <a:moveTo>
                    <a:pt x="0" y="192"/>
                  </a:moveTo>
                  <a:lnTo>
                    <a:pt x="571" y="945"/>
                  </a:lnTo>
                  <a:lnTo>
                    <a:pt x="868" y="945"/>
                  </a:lnTo>
                  <a:lnTo>
                    <a:pt x="0" y="0"/>
                  </a:lnTo>
                  <a:lnTo>
                    <a:pt x="0" y="192"/>
                  </a:lnTo>
                  <a:close/>
                </a:path>
              </a:pathLst>
            </a:custGeom>
            <a:solidFill>
              <a:schemeClr val="tx1">
                <a:lumMod val="75000"/>
                <a:lumOff val="25000"/>
              </a:schemeClr>
            </a:solidFill>
            <a:ln>
              <a:noFill/>
            </a:ln>
          </p:spPr>
          <p:txBody>
            <a:bodyPr/>
            <a:lstStyle/>
            <a:p>
              <a:endParaRPr lang="en-US"/>
            </a:p>
          </p:txBody>
        </p:sp>
      </p:grpSp>
      <p:sp>
        <p:nvSpPr>
          <p:cNvPr id="2" name="Title Placeholder 1"/>
          <p:cNvSpPr>
            <a:spLocks noGrp="1"/>
          </p:cNvSpPr>
          <p:nvPr>
            <p:ph type="title"/>
          </p:nvPr>
        </p:nvSpPr>
        <p:spPr>
          <a:xfrm>
            <a:off x="982133" y="457201"/>
            <a:ext cx="7704667" cy="19812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82134" y="2667000"/>
            <a:ext cx="7704666" cy="335699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358679" y="6116070"/>
            <a:ext cx="85747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BCAD085-E8A6-8845-BD4E-CB4CCA059FC4}" type="datetimeFigureOut">
              <a:rPr lang="en-US" smtClean="0"/>
              <a:t>12/13/2025</a:t>
            </a:fld>
            <a:endParaRPr lang="en-US"/>
          </a:p>
        </p:txBody>
      </p:sp>
      <p:sp>
        <p:nvSpPr>
          <p:cNvPr id="5" name="Footer Placeholder 4"/>
          <p:cNvSpPr>
            <a:spLocks noGrp="1"/>
          </p:cNvSpPr>
          <p:nvPr>
            <p:ph type="ftr" sz="quarter" idx="3"/>
          </p:nvPr>
        </p:nvSpPr>
        <p:spPr>
          <a:xfrm>
            <a:off x="1986997" y="6116070"/>
            <a:ext cx="531451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8273317" y="6116070"/>
            <a:ext cx="41348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179940938"/>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 id="2147483739" r:id="rId14"/>
    <p:sldLayoutId id="2147483740" r:id="rId15"/>
    <p:sldLayoutId id="2147483741" r:id="rId16"/>
    <p:sldLayoutId id="2147483742"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677598" y="1570990"/>
            <a:ext cx="2847230" cy="2690949"/>
          </a:xfrm>
        </p:spPr>
        <p:txBody>
          <a:bodyPr vert="horz" lIns="91440" tIns="45720" rIns="91440" bIns="45720" rtlCol="0" anchor="t">
            <a:normAutofit/>
          </a:bodyPr>
          <a:lstStyle/>
          <a:p>
            <a:pPr algn="l" defTabSz="914400">
              <a:lnSpc>
                <a:spcPct val="90000"/>
              </a:lnSpc>
            </a:pPr>
            <a:r>
              <a:rPr lang="en-US" sz="4200" kern="1200" dirty="0">
                <a:solidFill>
                  <a:schemeClr val="tx1"/>
                </a:solidFill>
                <a:latin typeface="+mj-lt"/>
                <a:ea typeface="+mj-ea"/>
                <a:cs typeface="+mj-cs"/>
              </a:rPr>
              <a:t>Bacchus Winery Database Case Study</a:t>
            </a:r>
          </a:p>
        </p:txBody>
      </p:sp>
      <p:sp>
        <p:nvSpPr>
          <p:cNvPr id="3" name="Subtitle 2"/>
          <p:cNvSpPr>
            <a:spLocks noGrp="1"/>
          </p:cNvSpPr>
          <p:nvPr>
            <p:ph type="subTitle" idx="1"/>
          </p:nvPr>
        </p:nvSpPr>
        <p:spPr>
          <a:xfrm>
            <a:off x="4242163" y="1463039"/>
            <a:ext cx="4156790" cy="4300447"/>
          </a:xfrm>
        </p:spPr>
        <p:style>
          <a:lnRef idx="2">
            <a:schemeClr val="accent4"/>
          </a:lnRef>
          <a:fillRef idx="1">
            <a:schemeClr val="lt1"/>
          </a:fillRef>
          <a:effectRef idx="0">
            <a:schemeClr val="accent4"/>
          </a:effectRef>
          <a:fontRef idx="minor">
            <a:schemeClr val="dk1"/>
          </a:fontRef>
        </p:style>
        <p:txBody>
          <a:bodyPr vert="horz" lIns="91440" tIns="45720" rIns="91440" bIns="45720" rtlCol="0" anchor="t">
            <a:normAutofit/>
          </a:bodyPr>
          <a:lstStyle/>
          <a:p>
            <a:pPr indent="-228600" algn="l" defTabSz="914400">
              <a:lnSpc>
                <a:spcPct val="90000"/>
              </a:lnSpc>
              <a:buFont typeface="Arial" panose="020B0604020202020204" pitchFamily="34" charset="0"/>
              <a:buChar char="•"/>
            </a:pPr>
            <a:r>
              <a:rPr lang="en-US" sz="1900" dirty="0">
                <a:solidFill>
                  <a:schemeClr val="tx1"/>
                </a:solidFill>
              </a:rPr>
              <a:t>Module 11 – Milestone #4</a:t>
            </a:r>
          </a:p>
          <a:p>
            <a:pPr indent="-228600" algn="l" defTabSz="914400">
              <a:lnSpc>
                <a:spcPct val="90000"/>
              </a:lnSpc>
              <a:buFont typeface="Arial" panose="020B0604020202020204" pitchFamily="34" charset="0"/>
              <a:buChar char="•"/>
            </a:pPr>
            <a:r>
              <a:rPr lang="en-US" sz="1900" dirty="0">
                <a:solidFill>
                  <a:schemeClr val="tx1"/>
                </a:solidFill>
              </a:rPr>
              <a:t>CSD 310 </a:t>
            </a:r>
          </a:p>
          <a:p>
            <a:pPr indent="-228600" algn="l" defTabSz="914400">
              <a:lnSpc>
                <a:spcPct val="90000"/>
              </a:lnSpc>
              <a:buFont typeface="Arial" panose="020B0604020202020204" pitchFamily="34" charset="0"/>
              <a:buChar char="•"/>
            </a:pPr>
            <a:r>
              <a:rPr lang="en-US" sz="1900" dirty="0">
                <a:solidFill>
                  <a:schemeClr val="tx1"/>
                </a:solidFill>
              </a:rPr>
              <a:t>Group 3</a:t>
            </a:r>
          </a:p>
          <a:p>
            <a:pPr indent="-228600" algn="l" defTabSz="914400">
              <a:lnSpc>
                <a:spcPct val="90000"/>
              </a:lnSpc>
              <a:buFont typeface="Arial" panose="020B0604020202020204" pitchFamily="34" charset="0"/>
              <a:buChar char="•"/>
            </a:pPr>
            <a:r>
              <a:rPr lang="en-US" sz="1900" dirty="0">
                <a:solidFill>
                  <a:schemeClr val="tx1"/>
                </a:solidFill>
              </a:rPr>
              <a:t>James Buzzell</a:t>
            </a:r>
          </a:p>
          <a:p>
            <a:pPr indent="-228600" algn="l" defTabSz="914400">
              <a:lnSpc>
                <a:spcPct val="90000"/>
              </a:lnSpc>
              <a:buFont typeface="Arial" panose="020B0604020202020204" pitchFamily="34" charset="0"/>
              <a:buChar char="•"/>
            </a:pPr>
            <a:r>
              <a:rPr lang="en-US" sz="1900" dirty="0">
                <a:solidFill>
                  <a:schemeClr val="tx1"/>
                </a:solidFill>
              </a:rPr>
              <a:t>Noor Al Salihi</a:t>
            </a:r>
          </a:p>
          <a:p>
            <a:pPr indent="-228600" algn="l" defTabSz="914400">
              <a:lnSpc>
                <a:spcPct val="90000"/>
              </a:lnSpc>
              <a:buFont typeface="Arial" panose="020B0604020202020204" pitchFamily="34" charset="0"/>
              <a:buChar char="•"/>
            </a:pPr>
            <a:r>
              <a:rPr lang="en-US" sz="1900" dirty="0">
                <a:solidFill>
                  <a:schemeClr val="tx1"/>
                </a:solidFill>
              </a:rPr>
              <a:t>Abram Denzlinger  </a:t>
            </a:r>
          </a:p>
          <a:p>
            <a:pPr indent="-228600" algn="l" defTabSz="914400">
              <a:lnSpc>
                <a:spcPct val="90000"/>
              </a:lnSpc>
              <a:buFont typeface="Arial" panose="020B0604020202020204" pitchFamily="34" charset="0"/>
              <a:buChar char="•"/>
            </a:pPr>
            <a:r>
              <a:rPr lang="en-US" sz="1900" dirty="0">
                <a:solidFill>
                  <a:schemeClr val="tx1"/>
                </a:solidFill>
              </a:rPr>
              <a:t>12/11/2025 </a:t>
            </a:r>
          </a:p>
          <a:p>
            <a:pPr indent="-228600" algn="l" defTabSz="914400">
              <a:lnSpc>
                <a:spcPct val="90000"/>
              </a:lnSpc>
              <a:buFont typeface="Arial" panose="020B0604020202020204" pitchFamily="34" charset="0"/>
              <a:buChar char="•"/>
            </a:pPr>
            <a:endParaRPr lang="en-US" sz="1900"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63930" y="1050595"/>
            <a:ext cx="6056111" cy="1618489"/>
          </a:xfrm>
        </p:spPr>
        <p:txBody>
          <a:bodyPr anchor="ctr">
            <a:normAutofit/>
          </a:bodyPr>
          <a:lstStyle/>
          <a:p>
            <a:r>
              <a:rPr lang="en-US" sz="5800"/>
              <a:t>Group Introduction</a:t>
            </a:r>
          </a:p>
        </p:txBody>
      </p:sp>
      <p:sp>
        <p:nvSpPr>
          <p:cNvPr id="3" name="Content Placeholder 2"/>
          <p:cNvSpPr>
            <a:spLocks noGrp="1"/>
          </p:cNvSpPr>
          <p:nvPr>
            <p:ph idx="1"/>
          </p:nvPr>
        </p:nvSpPr>
        <p:spPr>
          <a:xfrm>
            <a:off x="963930" y="2969469"/>
            <a:ext cx="6056111" cy="2800395"/>
          </a:xfrm>
        </p:spPr>
        <p:txBody>
          <a:bodyPr anchor="t">
            <a:normAutofit/>
          </a:bodyPr>
          <a:lstStyle/>
          <a:p>
            <a:pPr marL="0" indent="0">
              <a:buNone/>
            </a:pPr>
            <a:r>
              <a:rPr lang="en-US" sz="2100"/>
              <a:t>Our team worked together to create and construct a relational database for Bacchus Winery. We worked with making sure that the database enforced business rules and had a clean ERD, and was able to produce reports that were useful for real business decisions.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06825" y="1188637"/>
            <a:ext cx="2241175" cy="4480726"/>
          </a:xfrm>
        </p:spPr>
        <p:txBody>
          <a:bodyPr>
            <a:normAutofit/>
          </a:bodyPr>
          <a:lstStyle/>
          <a:p>
            <a:pPr algn="r"/>
            <a:r>
              <a:rPr lang="en-US" sz="4000"/>
              <a:t>Case Study Overview</a:t>
            </a:r>
          </a:p>
        </p:txBody>
      </p:sp>
      <p:sp>
        <p:nvSpPr>
          <p:cNvPr id="3" name="Content Placeholder 2"/>
          <p:cNvSpPr>
            <a:spLocks noGrp="1"/>
          </p:cNvSpPr>
          <p:nvPr>
            <p:ph idx="1"/>
          </p:nvPr>
        </p:nvSpPr>
        <p:spPr>
          <a:xfrm>
            <a:off x="3941445" y="1648870"/>
            <a:ext cx="3527136" cy="3560260"/>
          </a:xfrm>
        </p:spPr>
        <p:txBody>
          <a:bodyPr anchor="ctr">
            <a:normAutofit/>
          </a:bodyPr>
          <a:lstStyle/>
          <a:p>
            <a:pPr marL="0" indent="0">
              <a:buNone/>
            </a:pPr>
            <a:r>
              <a:rPr lang="en-US" sz="2100"/>
              <a:t>The Bacchus Winery needed a database for suppliers, inventory, customers, employees, and orders. The objective was to organize the data and generate reports that can be used to track sales, manage inventory, and employee performance.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55175" y="1188637"/>
            <a:ext cx="3467522" cy="4480726"/>
          </a:xfrm>
        </p:spPr>
        <p:txBody>
          <a:bodyPr>
            <a:normAutofit/>
          </a:bodyPr>
          <a:lstStyle/>
          <a:p>
            <a:pPr algn="r"/>
            <a:r>
              <a:rPr lang="en-US" sz="5700">
                <a:solidFill>
                  <a:schemeClr val="tx1">
                    <a:lumMod val="75000"/>
                    <a:lumOff val="25000"/>
                  </a:schemeClr>
                </a:solidFill>
              </a:rPr>
              <a:t>Business Rules Summary</a:t>
            </a:r>
          </a:p>
        </p:txBody>
      </p:sp>
      <p:sp>
        <p:nvSpPr>
          <p:cNvPr id="3" name="Content Placeholder 2"/>
          <p:cNvSpPr>
            <a:spLocks noGrp="1"/>
          </p:cNvSpPr>
          <p:nvPr>
            <p:ph idx="1"/>
          </p:nvPr>
        </p:nvSpPr>
        <p:spPr>
          <a:xfrm>
            <a:off x="4933188" y="1896645"/>
            <a:ext cx="2965331" cy="3064712"/>
          </a:xfrm>
        </p:spPr>
        <p:txBody>
          <a:bodyPr anchor="ctr">
            <a:normAutofit/>
          </a:bodyPr>
          <a:lstStyle/>
          <a:p>
            <a:pPr marL="0" indent="0">
              <a:lnSpc>
                <a:spcPct val="90000"/>
              </a:lnSpc>
              <a:buNone/>
            </a:pPr>
            <a:r>
              <a:rPr lang="en-US" sz="1500"/>
              <a:t>1- One supplier can supply many inventory items</a:t>
            </a:r>
            <a:br>
              <a:rPr lang="en-US" sz="1500"/>
            </a:br>
            <a:r>
              <a:rPr lang="en-US" sz="1500"/>
              <a:t>2- Each inventory item has one supplier</a:t>
            </a:r>
            <a:br>
              <a:rPr lang="en-US" sz="1500"/>
            </a:br>
            <a:r>
              <a:rPr lang="en-US" sz="1500"/>
              <a:t>3- Orders can include many inventory items</a:t>
            </a:r>
            <a:br>
              <a:rPr lang="en-US" sz="1500"/>
            </a:br>
            <a:r>
              <a:rPr lang="en-US" sz="1500"/>
              <a:t>4- Each order is processed by one employee</a:t>
            </a:r>
            <a:br>
              <a:rPr lang="en-US" sz="1500"/>
            </a:br>
            <a:r>
              <a:rPr lang="en-US" sz="1500"/>
              <a:t>5- Employees belong to one department</a:t>
            </a:r>
            <a:br>
              <a:rPr lang="en-US" sz="1500"/>
            </a:br>
            <a:r>
              <a:rPr lang="en-US" sz="1500"/>
              <a:t>6- Employees may report to a manager</a:t>
            </a:r>
            <a:br>
              <a:rPr lang="en-US" sz="1500"/>
            </a:br>
            <a:r>
              <a:rPr lang="en-US" sz="1500"/>
              <a:t>7- Each order has a unique tracking number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24374" y="623275"/>
            <a:ext cx="5098675" cy="468925"/>
          </a:xfrm>
        </p:spPr>
        <p:txBody>
          <a:bodyPr anchor="ctr">
            <a:noAutofit/>
          </a:bodyPr>
          <a:lstStyle/>
          <a:p>
            <a:r>
              <a:rPr lang="en-US" sz="2000" dirty="0"/>
              <a:t>Final ERD</a:t>
            </a:r>
          </a:p>
        </p:txBody>
      </p:sp>
      <p:sp>
        <p:nvSpPr>
          <p:cNvPr id="3" name="Content Placeholder 2"/>
          <p:cNvSpPr>
            <a:spLocks noGrp="1"/>
          </p:cNvSpPr>
          <p:nvPr>
            <p:ph idx="1"/>
          </p:nvPr>
        </p:nvSpPr>
        <p:spPr>
          <a:xfrm>
            <a:off x="1059180" y="981572"/>
            <a:ext cx="5024121" cy="1882652"/>
          </a:xfrm>
        </p:spPr>
        <p:txBody>
          <a:bodyPr anchor="t">
            <a:normAutofit fontScale="77500" lnSpcReduction="20000"/>
          </a:bodyPr>
          <a:lstStyle/>
          <a:p>
            <a:pPr marL="0" indent="0">
              <a:buNone/>
            </a:pPr>
            <a:endParaRPr lang="en-US" sz="2100" dirty="0"/>
          </a:p>
          <a:p>
            <a:pPr marL="0" indent="0">
              <a:buNone/>
            </a:pPr>
            <a:r>
              <a:rPr lang="en-US" sz="2100" dirty="0"/>
              <a:t>The complete ERD is shown below. The Supplier, Inventory, Customer, Orders, Order Items, Employee, and Department tables are included. Primary and foreign keys have been used to ensure all relationships and business rules are met.</a:t>
            </a:r>
            <a:br>
              <a:rPr lang="en-US" sz="2100" dirty="0"/>
            </a:br>
            <a:br>
              <a:rPr lang="en-US" sz="2100" dirty="0"/>
            </a:br>
            <a:endParaRPr lang="en-US" sz="2100" dirty="0"/>
          </a:p>
        </p:txBody>
      </p:sp>
      <p:cxnSp>
        <p:nvCxnSpPr>
          <p:cNvPr id="5" name="Straight Arrow Connector 4">
            <a:extLst>
              <a:ext uri="{FF2B5EF4-FFF2-40B4-BE49-F238E27FC236}">
                <a16:creationId xmlns:a16="http://schemas.microsoft.com/office/drawing/2014/main" id="{5D8E5473-10DC-C48A-C134-AF7EB5AACAA1}"/>
              </a:ext>
            </a:extLst>
          </p:cNvPr>
          <p:cNvCxnSpPr>
            <a:cxnSpLocks/>
          </p:cNvCxnSpPr>
          <p:nvPr/>
        </p:nvCxnSpPr>
        <p:spPr>
          <a:xfrm>
            <a:off x="4159250" y="3149600"/>
            <a:ext cx="196850" cy="152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53A74DF9-24EE-EBBE-A348-B79F12A8B07D}"/>
              </a:ext>
            </a:extLst>
          </p:cNvPr>
          <p:cNvPicPr>
            <a:picLocks noChangeAspect="1"/>
          </p:cNvPicPr>
          <p:nvPr/>
        </p:nvPicPr>
        <p:blipFill>
          <a:blip r:embed="rId2"/>
          <a:stretch>
            <a:fillRect/>
          </a:stretch>
        </p:blipFill>
        <p:spPr>
          <a:xfrm>
            <a:off x="1607672" y="3149600"/>
            <a:ext cx="6360459" cy="344891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947762" y="905011"/>
            <a:ext cx="3441996" cy="1889135"/>
          </a:xfrm>
        </p:spPr>
        <p:txBody>
          <a:bodyPr anchor="b">
            <a:normAutofit/>
          </a:bodyPr>
          <a:lstStyle/>
          <a:p>
            <a:pPr>
              <a:lnSpc>
                <a:spcPct val="90000"/>
              </a:lnSpc>
            </a:pPr>
            <a:r>
              <a:rPr lang="en-US" sz="4200"/>
              <a:t>Report 1: Total Sales by Customer</a:t>
            </a:r>
          </a:p>
        </p:txBody>
      </p:sp>
      <p:sp>
        <p:nvSpPr>
          <p:cNvPr id="3" name="Content Placeholder 2"/>
          <p:cNvSpPr>
            <a:spLocks noGrp="1"/>
          </p:cNvSpPr>
          <p:nvPr>
            <p:ph idx="1"/>
          </p:nvPr>
        </p:nvSpPr>
        <p:spPr>
          <a:xfrm>
            <a:off x="4947762" y="2965592"/>
            <a:ext cx="3441996" cy="2987397"/>
          </a:xfrm>
        </p:spPr>
        <p:txBody>
          <a:bodyPr>
            <a:normAutofit/>
          </a:bodyPr>
          <a:lstStyle/>
          <a:p>
            <a:pPr marL="0" indent="0">
              <a:buNone/>
            </a:pPr>
            <a:r>
              <a:rPr lang="en-US" sz="1600" dirty="0"/>
              <a:t>This report calculates total sales per customer.</a:t>
            </a:r>
          </a:p>
          <a:p>
            <a:pPr marL="0" indent="0">
              <a:buNone/>
            </a:pPr>
            <a:r>
              <a:rPr lang="en-US" sz="1600" dirty="0"/>
              <a:t>Why it matters:</a:t>
            </a:r>
          </a:p>
          <a:p>
            <a:r>
              <a:rPr lang="en-US" sz="1600" dirty="0"/>
              <a:t> Identifies top customers</a:t>
            </a:r>
          </a:p>
          <a:p>
            <a:r>
              <a:rPr lang="en-US" sz="1600" dirty="0"/>
              <a:t> Supports marketing and distributor decisions</a:t>
            </a:r>
          </a:p>
          <a:p>
            <a:pPr marL="0" indent="0">
              <a:buNone/>
            </a:pPr>
            <a:endParaRPr lang="en-US" sz="1600" dirty="0"/>
          </a:p>
        </p:txBody>
      </p:sp>
      <p:pic>
        <p:nvPicPr>
          <p:cNvPr id="5" name="Picture 4" descr="A screenshot of a computer&#10;&#10;AI-generated content may be incorrect.">
            <a:extLst>
              <a:ext uri="{FF2B5EF4-FFF2-40B4-BE49-F238E27FC236}">
                <a16:creationId xmlns:a16="http://schemas.microsoft.com/office/drawing/2014/main" id="{6C854FDC-012F-CB40-761C-A9165FB566A6}"/>
              </a:ext>
            </a:extLst>
          </p:cNvPr>
          <p:cNvPicPr>
            <a:picLocks noChangeAspect="1"/>
          </p:cNvPicPr>
          <p:nvPr/>
        </p:nvPicPr>
        <p:blipFill>
          <a:blip r:embed="rId2"/>
          <a:srcRect r="46812" b="4"/>
          <a:stretch>
            <a:fillRect/>
          </a:stretch>
        </p:blipFill>
        <p:spPr>
          <a:xfrm>
            <a:off x="625204" y="1318232"/>
            <a:ext cx="4101260" cy="422153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Report 2: Inventory Levels by Supplier</a:t>
            </a:r>
          </a:p>
        </p:txBody>
      </p:sp>
      <p:sp>
        <p:nvSpPr>
          <p:cNvPr id="3" name="Content Placeholder 2"/>
          <p:cNvSpPr>
            <a:spLocks noGrp="1"/>
          </p:cNvSpPr>
          <p:nvPr>
            <p:ph idx="1"/>
          </p:nvPr>
        </p:nvSpPr>
        <p:spPr>
          <a:xfrm>
            <a:off x="885432" y="1346200"/>
            <a:ext cx="7704667" cy="3332816"/>
          </a:xfrm>
        </p:spPr>
        <p:txBody>
          <a:bodyPr>
            <a:normAutofit/>
          </a:bodyPr>
          <a:lstStyle/>
          <a:p>
            <a:pPr marL="0" indent="0">
              <a:buNone/>
            </a:pPr>
            <a:r>
              <a:rPr sz="1800" dirty="0"/>
              <a:t>This report lists inventory items grouped by supplier.</a:t>
            </a:r>
          </a:p>
          <a:p>
            <a:pPr marL="0" indent="0">
              <a:buNone/>
            </a:pPr>
            <a:r>
              <a:rPr sz="1800" dirty="0"/>
              <a:t>Why it matters:</a:t>
            </a:r>
          </a:p>
          <a:p>
            <a:r>
              <a:rPr sz="1800" dirty="0"/>
              <a:t> Tracks inventory levels</a:t>
            </a:r>
          </a:p>
          <a:p>
            <a:r>
              <a:rPr sz="1800" dirty="0"/>
              <a:t> Supports purchasing decisions</a:t>
            </a:r>
            <a:r>
              <a:rPr lang="en-US" sz="1800" dirty="0"/>
              <a:t> </a:t>
            </a:r>
            <a:endParaRPr sz="1800" dirty="0"/>
          </a:p>
          <a:p>
            <a:pPr marL="0" indent="0">
              <a:buNone/>
            </a:pPr>
            <a:endParaRPr dirty="0"/>
          </a:p>
        </p:txBody>
      </p:sp>
      <p:pic>
        <p:nvPicPr>
          <p:cNvPr id="5" name="Picture 4" descr="A screenshot of a computer">
            <a:extLst>
              <a:ext uri="{FF2B5EF4-FFF2-40B4-BE49-F238E27FC236}">
                <a16:creationId xmlns:a16="http://schemas.microsoft.com/office/drawing/2014/main" id="{92806E92-B188-BE57-4A69-3592F3988723}"/>
              </a:ext>
            </a:extLst>
          </p:cNvPr>
          <p:cNvPicPr>
            <a:picLocks noChangeAspect="1"/>
          </p:cNvPicPr>
          <p:nvPr/>
        </p:nvPicPr>
        <p:blipFill>
          <a:blip r:embed="rId2"/>
          <a:stretch>
            <a:fillRect/>
          </a:stretch>
        </p:blipFill>
        <p:spPr>
          <a:xfrm>
            <a:off x="152400" y="4280694"/>
            <a:ext cx="4174938" cy="2286000"/>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9F144E85-D444-2094-13F0-AE94ED8142FE}"/>
              </a:ext>
            </a:extLst>
          </p:cNvPr>
          <p:cNvPicPr>
            <a:picLocks noChangeAspect="1"/>
          </p:cNvPicPr>
          <p:nvPr/>
        </p:nvPicPr>
        <p:blipFill>
          <a:blip r:embed="rId3"/>
          <a:stretch>
            <a:fillRect/>
          </a:stretch>
        </p:blipFill>
        <p:spPr>
          <a:xfrm>
            <a:off x="4969067" y="4311079"/>
            <a:ext cx="4174933" cy="2286000"/>
          </a:xfrm>
          <a:prstGeom prst="rect">
            <a:avLst/>
          </a:prstGeom>
        </p:spPr>
      </p:pic>
      <p:sp>
        <p:nvSpPr>
          <p:cNvPr id="8" name="Arrow: Left-Right 7">
            <a:extLst>
              <a:ext uri="{FF2B5EF4-FFF2-40B4-BE49-F238E27FC236}">
                <a16:creationId xmlns:a16="http://schemas.microsoft.com/office/drawing/2014/main" id="{B64CA054-681A-E44C-772A-E814CAF6E217}"/>
              </a:ext>
            </a:extLst>
          </p:cNvPr>
          <p:cNvSpPr/>
          <p:nvPr/>
        </p:nvSpPr>
        <p:spPr>
          <a:xfrm>
            <a:off x="4228514" y="4981925"/>
            <a:ext cx="839378" cy="484632"/>
          </a:xfrm>
          <a:prstGeom prst="leftRigh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sz="1400" dirty="0"/>
          </a:p>
        </p:txBody>
      </p:sp>
      <p:sp>
        <p:nvSpPr>
          <p:cNvPr id="9" name="Arrow: Down 8">
            <a:extLst>
              <a:ext uri="{FF2B5EF4-FFF2-40B4-BE49-F238E27FC236}">
                <a16:creationId xmlns:a16="http://schemas.microsoft.com/office/drawing/2014/main" id="{4DFB6BDA-B172-E8FB-C40E-ADFA3146B46B}"/>
              </a:ext>
            </a:extLst>
          </p:cNvPr>
          <p:cNvSpPr/>
          <p:nvPr/>
        </p:nvSpPr>
        <p:spPr>
          <a:xfrm>
            <a:off x="1853034" y="3486150"/>
            <a:ext cx="484632" cy="794544"/>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Arrow: Down 9">
            <a:extLst>
              <a:ext uri="{FF2B5EF4-FFF2-40B4-BE49-F238E27FC236}">
                <a16:creationId xmlns:a16="http://schemas.microsoft.com/office/drawing/2014/main" id="{EF19DCE3-67E3-C19B-999D-D4B7D951978C}"/>
              </a:ext>
            </a:extLst>
          </p:cNvPr>
          <p:cNvSpPr/>
          <p:nvPr/>
        </p:nvSpPr>
        <p:spPr>
          <a:xfrm>
            <a:off x="6780426" y="3486150"/>
            <a:ext cx="484632" cy="794544"/>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93974" y="905011"/>
            <a:ext cx="2722166" cy="1889135"/>
          </a:xfrm>
        </p:spPr>
        <p:txBody>
          <a:bodyPr anchor="b">
            <a:normAutofit/>
          </a:bodyPr>
          <a:lstStyle/>
          <a:p>
            <a:pPr>
              <a:lnSpc>
                <a:spcPct val="90000"/>
              </a:lnSpc>
            </a:pPr>
            <a:r>
              <a:rPr lang="en-US" sz="2900"/>
              <a:t>Report 3: Orders Processed by Employee</a:t>
            </a:r>
          </a:p>
        </p:txBody>
      </p:sp>
      <p:sp>
        <p:nvSpPr>
          <p:cNvPr id="3" name="Content Placeholder 2"/>
          <p:cNvSpPr>
            <a:spLocks noGrp="1"/>
          </p:cNvSpPr>
          <p:nvPr>
            <p:ph idx="1"/>
          </p:nvPr>
        </p:nvSpPr>
        <p:spPr>
          <a:xfrm>
            <a:off x="893974" y="2965592"/>
            <a:ext cx="2722166" cy="2987397"/>
          </a:xfrm>
        </p:spPr>
        <p:txBody>
          <a:bodyPr>
            <a:normAutofit/>
          </a:bodyPr>
          <a:lstStyle/>
          <a:p>
            <a:pPr marL="0" indent="0">
              <a:buNone/>
            </a:pPr>
            <a:r>
              <a:rPr lang="en-US" sz="1600"/>
              <a:t>This report shows how many orders each employee processed.</a:t>
            </a:r>
          </a:p>
          <a:p>
            <a:pPr marL="0" indent="0">
              <a:buNone/>
            </a:pPr>
            <a:r>
              <a:rPr lang="en-US" sz="1600"/>
              <a:t>Why it matters:</a:t>
            </a:r>
          </a:p>
          <a:p>
            <a:r>
              <a:rPr lang="en-US" sz="1600"/>
              <a:t>Evaluates workload</a:t>
            </a:r>
          </a:p>
          <a:p>
            <a:r>
              <a:rPr lang="en-US" sz="1600"/>
              <a:t>Helps balance staffing</a:t>
            </a:r>
          </a:p>
          <a:p>
            <a:pPr marL="0" indent="0">
              <a:buNone/>
            </a:pPr>
            <a:r>
              <a:rPr lang="en-US" sz="1600"/>
              <a:t> </a:t>
            </a:r>
          </a:p>
        </p:txBody>
      </p:sp>
      <p:pic>
        <p:nvPicPr>
          <p:cNvPr id="5" name="Picture 4" descr="A screenshot of a computer&#10;&#10;AI-generated content may be incorrect.">
            <a:extLst>
              <a:ext uri="{FF2B5EF4-FFF2-40B4-BE49-F238E27FC236}">
                <a16:creationId xmlns:a16="http://schemas.microsoft.com/office/drawing/2014/main" id="{366E5FEA-1CA0-04D6-5D48-AECF8E25459C}"/>
              </a:ext>
            </a:extLst>
          </p:cNvPr>
          <p:cNvPicPr>
            <a:picLocks noChangeAspect="1"/>
          </p:cNvPicPr>
          <p:nvPr/>
        </p:nvPicPr>
        <p:blipFill>
          <a:blip r:embed="rId2"/>
          <a:stretch>
            <a:fillRect/>
          </a:stretch>
        </p:blipFill>
        <p:spPr>
          <a:xfrm>
            <a:off x="4019363" y="2170743"/>
            <a:ext cx="4580374" cy="250775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3BF673-8C68-4092-BF1B-53C57EFEC2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61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47">
            <a:extLst>
              <a:ext uri="{FF2B5EF4-FFF2-40B4-BE49-F238E27FC236}">
                <a16:creationId xmlns:a16="http://schemas.microsoft.com/office/drawing/2014/main" id="{08751D95-C333-4DEB-90B4-1EAC9A91DC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flipH="1">
            <a:off x="3046595" y="-15832"/>
            <a:ext cx="6097405" cy="6889518"/>
          </a:xfrm>
          <a:custGeom>
            <a:avLst/>
            <a:gdLst>
              <a:gd name="connsiteX0" fmla="*/ 0 w 8129873"/>
              <a:gd name="connsiteY0" fmla="*/ 0 h 6889518"/>
              <a:gd name="connsiteX1" fmla="*/ 0 w 8129873"/>
              <a:gd name="connsiteY1" fmla="*/ 6889518 h 6889518"/>
              <a:gd name="connsiteX2" fmla="*/ 6207942 w 8129873"/>
              <a:gd name="connsiteY2" fmla="*/ 6882299 h 6889518"/>
              <a:gd name="connsiteX3" fmla="*/ 8129873 w 8129873"/>
              <a:gd name="connsiteY3" fmla="*/ 5349831 h 6889518"/>
              <a:gd name="connsiteX4" fmla="*/ 7291674 w 8129873"/>
              <a:gd name="connsiteY4" fmla="*/ 7365 h 6889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29873" h="6889518">
                <a:moveTo>
                  <a:pt x="0" y="0"/>
                </a:moveTo>
                <a:lnTo>
                  <a:pt x="0" y="6889518"/>
                </a:lnTo>
                <a:lnTo>
                  <a:pt x="6207942" y="6882299"/>
                </a:lnTo>
                <a:lnTo>
                  <a:pt x="8129873" y="5349831"/>
                </a:lnTo>
                <a:lnTo>
                  <a:pt x="7291674" y="7365"/>
                </a:lnTo>
                <a:close/>
              </a:path>
            </a:pathLst>
          </a:custGeom>
          <a:solidFill>
            <a:schemeClr val="tx1">
              <a:lumMod val="95000"/>
              <a:lumOff val="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grpSp>
        <p:nvGrpSpPr>
          <p:cNvPr id="12" name="Group 11">
            <a:extLst>
              <a:ext uri="{FF2B5EF4-FFF2-40B4-BE49-F238E27FC236}">
                <a16:creationId xmlns:a16="http://schemas.microsoft.com/office/drawing/2014/main" id="{FBBA7535-3851-431E-BDA9-B4F6C120129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560419" y="0"/>
            <a:ext cx="1827609" cy="6858001"/>
            <a:chOff x="1320800" y="0"/>
            <a:chExt cx="2436813" cy="6858001"/>
          </a:xfrm>
        </p:grpSpPr>
        <p:sp>
          <p:nvSpPr>
            <p:cNvPr id="13" name="Freeform 6">
              <a:extLst>
                <a:ext uri="{FF2B5EF4-FFF2-40B4-BE49-F238E27FC236}">
                  <a16:creationId xmlns:a16="http://schemas.microsoft.com/office/drawing/2014/main" id="{2F07680B-461A-4AFC-808F-93216679AA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14" name="Freeform 7">
              <a:extLst>
                <a:ext uri="{FF2B5EF4-FFF2-40B4-BE49-F238E27FC236}">
                  <a16:creationId xmlns:a16="http://schemas.microsoft.com/office/drawing/2014/main" id="{8C864A04-25C0-4A5F-B6D4-F3859450A4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15" name="Freeform 8">
              <a:extLst>
                <a:ext uri="{FF2B5EF4-FFF2-40B4-BE49-F238E27FC236}">
                  <a16:creationId xmlns:a16="http://schemas.microsoft.com/office/drawing/2014/main" id="{5F596D75-78C8-47A8-9225-7C64A66747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16" name="Freeform 9">
              <a:extLst>
                <a:ext uri="{FF2B5EF4-FFF2-40B4-BE49-F238E27FC236}">
                  <a16:creationId xmlns:a16="http://schemas.microsoft.com/office/drawing/2014/main" id="{128D8641-4FEB-4878-B029-6CC4922EB5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17" name="Freeform 10">
              <a:extLst>
                <a:ext uri="{FF2B5EF4-FFF2-40B4-BE49-F238E27FC236}">
                  <a16:creationId xmlns:a16="http://schemas.microsoft.com/office/drawing/2014/main" id="{BB339737-0E88-4165-A752-9E204068DE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18" name="Freeform 11">
              <a:extLst>
                <a:ext uri="{FF2B5EF4-FFF2-40B4-BE49-F238E27FC236}">
                  <a16:creationId xmlns:a16="http://schemas.microsoft.com/office/drawing/2014/main" id="{633AF255-B0DD-4D23-A3F2-DDB221BB1B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2" name="Title 1"/>
          <p:cNvSpPr>
            <a:spLocks noGrp="1"/>
          </p:cNvSpPr>
          <p:nvPr>
            <p:ph type="title"/>
          </p:nvPr>
        </p:nvSpPr>
        <p:spPr>
          <a:xfrm>
            <a:off x="309018" y="1072609"/>
            <a:ext cx="2281168" cy="4522647"/>
          </a:xfrm>
          <a:effectLst/>
        </p:spPr>
        <p:txBody>
          <a:bodyPr anchor="ctr">
            <a:normAutofit/>
          </a:bodyPr>
          <a:lstStyle/>
          <a:p>
            <a:pPr algn="l"/>
            <a:r>
              <a:rPr lang="en-US" sz="2800"/>
              <a:t>Assumptions</a:t>
            </a:r>
          </a:p>
        </p:txBody>
      </p:sp>
      <p:sp>
        <p:nvSpPr>
          <p:cNvPr id="3" name="Content Placeholder 2"/>
          <p:cNvSpPr>
            <a:spLocks noGrp="1"/>
          </p:cNvSpPr>
          <p:nvPr>
            <p:ph idx="1"/>
          </p:nvPr>
        </p:nvSpPr>
        <p:spPr>
          <a:xfrm>
            <a:off x="3861774" y="1072609"/>
            <a:ext cx="4989330" cy="4522647"/>
          </a:xfrm>
        </p:spPr>
        <p:txBody>
          <a:bodyPr anchor="ctr">
            <a:normAutofit/>
          </a:bodyPr>
          <a:lstStyle/>
          <a:p>
            <a:pPr marL="0" indent="0">
              <a:buNone/>
            </a:pPr>
            <a:r>
              <a:rPr lang="en-US" sz="1700">
                <a:solidFill>
                  <a:schemeClr val="bg1"/>
                </a:solidFill>
              </a:rPr>
              <a:t>• Walk-in customer storage - on customer names</a:t>
            </a:r>
            <a:br>
              <a:rPr lang="en-US" sz="1700">
                <a:solidFill>
                  <a:schemeClr val="bg1"/>
                </a:solidFill>
              </a:rPr>
            </a:br>
            <a:r>
              <a:rPr lang="en-US" sz="1700">
                <a:solidFill>
                  <a:schemeClr val="bg1"/>
                </a:solidFill>
              </a:rPr>
              <a:t>• Order to one employee</a:t>
            </a:r>
            <a:br>
              <a:rPr lang="en-US" sz="1700">
                <a:solidFill>
                  <a:schemeClr val="bg1"/>
                </a:solidFill>
              </a:rPr>
            </a:br>
            <a:r>
              <a:rPr lang="en-US" sz="1700">
                <a:solidFill>
                  <a:schemeClr val="bg1"/>
                </a:solidFill>
              </a:rPr>
              <a:t>• Suppliers are material only - not full wine</a:t>
            </a:r>
            <a:br>
              <a:rPr lang="en-US" sz="1700">
                <a:solidFill>
                  <a:schemeClr val="bg1"/>
                </a:solidFill>
              </a:rPr>
            </a:br>
            <a:r>
              <a:rPr lang="en-US" sz="1700">
                <a:solidFill>
                  <a:schemeClr val="bg1"/>
                </a:solidFill>
              </a:rPr>
              <a:t>• Tracking# system generated</a:t>
            </a:r>
            <a:br>
              <a:rPr lang="en-US" sz="1700">
                <a:solidFill>
                  <a:schemeClr val="bg1"/>
                </a:solidFill>
              </a:rPr>
            </a:br>
            <a:r>
              <a:rPr lang="en-US" sz="1700">
                <a:solidFill>
                  <a:schemeClr val="bg1"/>
                </a:solidFill>
              </a:rPr>
              <a:t>• Totals are done on-line totals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3BF673-8C68-4092-BF1B-53C57EFEC2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61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47">
            <a:extLst>
              <a:ext uri="{FF2B5EF4-FFF2-40B4-BE49-F238E27FC236}">
                <a16:creationId xmlns:a16="http://schemas.microsoft.com/office/drawing/2014/main" id="{08751D95-C333-4DEB-90B4-1EAC9A91DC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flipH="1">
            <a:off x="3046595" y="-15832"/>
            <a:ext cx="6097405" cy="6889518"/>
          </a:xfrm>
          <a:custGeom>
            <a:avLst/>
            <a:gdLst>
              <a:gd name="connsiteX0" fmla="*/ 0 w 8129873"/>
              <a:gd name="connsiteY0" fmla="*/ 0 h 6889518"/>
              <a:gd name="connsiteX1" fmla="*/ 0 w 8129873"/>
              <a:gd name="connsiteY1" fmla="*/ 6889518 h 6889518"/>
              <a:gd name="connsiteX2" fmla="*/ 6207942 w 8129873"/>
              <a:gd name="connsiteY2" fmla="*/ 6882299 h 6889518"/>
              <a:gd name="connsiteX3" fmla="*/ 8129873 w 8129873"/>
              <a:gd name="connsiteY3" fmla="*/ 5349831 h 6889518"/>
              <a:gd name="connsiteX4" fmla="*/ 7291674 w 8129873"/>
              <a:gd name="connsiteY4" fmla="*/ 7365 h 6889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29873" h="6889518">
                <a:moveTo>
                  <a:pt x="0" y="0"/>
                </a:moveTo>
                <a:lnTo>
                  <a:pt x="0" y="6889518"/>
                </a:lnTo>
                <a:lnTo>
                  <a:pt x="6207942" y="6882299"/>
                </a:lnTo>
                <a:lnTo>
                  <a:pt x="8129873" y="5349831"/>
                </a:lnTo>
                <a:lnTo>
                  <a:pt x="7291674" y="7365"/>
                </a:lnTo>
                <a:close/>
              </a:path>
            </a:pathLst>
          </a:custGeom>
          <a:solidFill>
            <a:schemeClr val="tx1">
              <a:lumMod val="95000"/>
              <a:lumOff val="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grpSp>
        <p:nvGrpSpPr>
          <p:cNvPr id="12" name="Group 11">
            <a:extLst>
              <a:ext uri="{FF2B5EF4-FFF2-40B4-BE49-F238E27FC236}">
                <a16:creationId xmlns:a16="http://schemas.microsoft.com/office/drawing/2014/main" id="{FBBA7535-3851-431E-BDA9-B4F6C120129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560419" y="0"/>
            <a:ext cx="1827609" cy="6858001"/>
            <a:chOff x="1320800" y="0"/>
            <a:chExt cx="2436813" cy="6858001"/>
          </a:xfrm>
        </p:grpSpPr>
        <p:sp>
          <p:nvSpPr>
            <p:cNvPr id="13" name="Freeform 6">
              <a:extLst>
                <a:ext uri="{FF2B5EF4-FFF2-40B4-BE49-F238E27FC236}">
                  <a16:creationId xmlns:a16="http://schemas.microsoft.com/office/drawing/2014/main" id="{2F07680B-461A-4AFC-808F-93216679AA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14" name="Freeform 7">
              <a:extLst>
                <a:ext uri="{FF2B5EF4-FFF2-40B4-BE49-F238E27FC236}">
                  <a16:creationId xmlns:a16="http://schemas.microsoft.com/office/drawing/2014/main" id="{8C864A04-25C0-4A5F-B6D4-F3859450A4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15" name="Freeform 8">
              <a:extLst>
                <a:ext uri="{FF2B5EF4-FFF2-40B4-BE49-F238E27FC236}">
                  <a16:creationId xmlns:a16="http://schemas.microsoft.com/office/drawing/2014/main" id="{5F596D75-78C8-47A8-9225-7C64A66747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16" name="Freeform 9">
              <a:extLst>
                <a:ext uri="{FF2B5EF4-FFF2-40B4-BE49-F238E27FC236}">
                  <a16:creationId xmlns:a16="http://schemas.microsoft.com/office/drawing/2014/main" id="{128D8641-4FEB-4878-B029-6CC4922EB5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17" name="Freeform 10">
              <a:extLst>
                <a:ext uri="{FF2B5EF4-FFF2-40B4-BE49-F238E27FC236}">
                  <a16:creationId xmlns:a16="http://schemas.microsoft.com/office/drawing/2014/main" id="{BB339737-0E88-4165-A752-9E204068DE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18" name="Freeform 11">
              <a:extLst>
                <a:ext uri="{FF2B5EF4-FFF2-40B4-BE49-F238E27FC236}">
                  <a16:creationId xmlns:a16="http://schemas.microsoft.com/office/drawing/2014/main" id="{633AF255-B0DD-4D23-A3F2-DDB221BB1B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2" name="Title 1"/>
          <p:cNvSpPr>
            <a:spLocks noGrp="1"/>
          </p:cNvSpPr>
          <p:nvPr>
            <p:ph type="title"/>
          </p:nvPr>
        </p:nvSpPr>
        <p:spPr>
          <a:xfrm>
            <a:off x="309018" y="1072609"/>
            <a:ext cx="2281168" cy="4522647"/>
          </a:xfrm>
          <a:effectLst/>
        </p:spPr>
        <p:txBody>
          <a:bodyPr anchor="ctr">
            <a:normAutofit/>
          </a:bodyPr>
          <a:lstStyle/>
          <a:p>
            <a:pPr algn="l"/>
            <a:r>
              <a:rPr lang="en-US" sz="2800"/>
              <a:t>Conclusion</a:t>
            </a:r>
          </a:p>
        </p:txBody>
      </p:sp>
      <p:sp>
        <p:nvSpPr>
          <p:cNvPr id="3" name="Content Placeholder 2"/>
          <p:cNvSpPr>
            <a:spLocks noGrp="1"/>
          </p:cNvSpPr>
          <p:nvPr>
            <p:ph idx="1"/>
          </p:nvPr>
        </p:nvSpPr>
        <p:spPr>
          <a:xfrm>
            <a:off x="3861774" y="1072609"/>
            <a:ext cx="4989330" cy="4522647"/>
          </a:xfrm>
        </p:spPr>
        <p:txBody>
          <a:bodyPr anchor="ctr">
            <a:normAutofit/>
          </a:bodyPr>
          <a:lstStyle/>
          <a:p>
            <a:pPr marL="0" indent="0">
              <a:buNone/>
            </a:pPr>
            <a:r>
              <a:rPr lang="en-US" sz="1700">
                <a:solidFill>
                  <a:schemeClr val="bg1"/>
                </a:solidFill>
              </a:rPr>
              <a:t>Our database design adequately supports the business needs of Bacchus Winery by enforcing the business rules and producing useful reports. The reports can be used to gain important knowledge about sales performance, inventory control, and employee productivity to help make educated business decisions.</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EBEBEB"/>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TM03457496[[fn=Parallax]]</Template>
  <TotalTime>21</TotalTime>
  <Words>395</Words>
  <Application>Microsoft Office PowerPoint</Application>
  <PresentationFormat>On-screen Show (4:3)</PresentationFormat>
  <Paragraphs>37</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Corbel</vt:lpstr>
      <vt:lpstr>Parallax</vt:lpstr>
      <vt:lpstr>Bacchus Winery Database Case Study</vt:lpstr>
      <vt:lpstr>Group Introduction</vt:lpstr>
      <vt:lpstr>Case Study Overview</vt:lpstr>
      <vt:lpstr>Business Rules Summary</vt:lpstr>
      <vt:lpstr>Final ERD</vt:lpstr>
      <vt:lpstr>Report 1: Total Sales by Customer</vt:lpstr>
      <vt:lpstr>Report 2: Inventory Levels by Supplier</vt:lpstr>
      <vt:lpstr>Report 3: Orders Processed by Employee</vt:lpstr>
      <vt:lpstr>Assumptions</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noor alsalihi</dc:creator>
  <cp:keywords/>
  <dc:description>generated using python-pptx</dc:description>
  <cp:lastModifiedBy>james buzzell</cp:lastModifiedBy>
  <cp:revision>4</cp:revision>
  <dcterms:created xsi:type="dcterms:W3CDTF">2013-01-27T09:14:16Z</dcterms:created>
  <dcterms:modified xsi:type="dcterms:W3CDTF">2025-12-13T23:16:55Z</dcterms:modified>
  <cp:category/>
</cp:coreProperties>
</file>